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Bold"/>
      <p:regular r:id="rId201315"/>
    </p:embeddedFont>
    <p:embeddedFont>
      <p:font typeface="Arimo"/>
      <p:regular r:id="rId201316"/>
    </p:embeddedFont>
    <p:embeddedFont>
      <p:font typeface="Arim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500"/>
            </a:avLst>
          </a:prstGeom>
          <a:solidFill>
            <a:srgbClr val="FAFFFA"/>
          </a:solidFill>
          <a:ln/>
        </p:spPr>
      </p:sp>
      <p:pic>
        <p:nvPicPr>
          <p:cNvPr id="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014" y="2068810"/>
            <a:ext cx="9055667" cy="153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41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AI-Based Knowledge Retrieval Platform with Query Resolution System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568014" y="3616821"/>
            <a:ext cx="9055667" cy="737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2050" i="1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Intelligent RAG-Based Multi-Agent Platform for Context-Aware Knowledge Retrieval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1568014" y="4750991"/>
            <a:ext cx="9055667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RAG • Multi-Agent AI • LangGraph • FastAPI • React • ChromaDB • PostgreSQL ]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886200" y="1102916"/>
            <a:ext cx="8149823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INFOSYS SPRINGBOARD VIRTUAL INTERNSHIP 7.0 FINAL PRESENTATION</a:t>
            </a:r>
            <a:endParaRPr lang="en-US" sz="3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40412"/>
            <a:ext cx="12191695" cy="18174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066" y="343098"/>
            <a:ext cx="9305295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Problem: Unstructured Knowledge at Scale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354500" y="1092696"/>
            <a:ext cx="5741447" cy="1391444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61" y="1059656"/>
            <a:ext cx="5807525" cy="145752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1" y="1059656"/>
            <a:ext cx="5807525" cy="145752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4500" y="1092696"/>
            <a:ext cx="81655" cy="1391444"/>
          </a:xfrm>
          <a:prstGeom prst="roundRect">
            <a:avLst>
              <a:gd name="adj" fmla="val 41993"/>
            </a:avLst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354500" y="1092696"/>
            <a:ext cx="81655" cy="1391444"/>
          </a:xfrm>
          <a:custGeom>
            <a:avLst/>
            <a:gdLst/>
            <a:ahLst/>
            <a:cxnLst/>
            <a:rect l="l" t="t" r="r" b="b"/>
            <a:pathLst>
              <a:path w="81655" h="1391444">
                <a:moveTo>
                  <a:pt x="81288" y="0"/>
                </a:moveTo>
                <a:lnTo>
                  <a:pt x="49646" y="6401"/>
                </a:lnTo>
                <a:lnTo>
                  <a:pt x="23811" y="23794"/>
                </a:lnTo>
                <a:lnTo>
                  <a:pt x="6385" y="49535"/>
                </a:lnTo>
                <a:lnTo>
                  <a:pt x="0" y="81121"/>
                </a:lnTo>
                <a:lnTo>
                  <a:pt x="0" y="1310323"/>
                </a:lnTo>
                <a:lnTo>
                  <a:pt x="6189" y="1341352"/>
                </a:lnTo>
                <a:lnTo>
                  <a:pt x="23811" y="1367650"/>
                </a:lnTo>
                <a:lnTo>
                  <a:pt x="50177" y="1385182"/>
                </a:lnTo>
                <a:lnTo>
                  <a:pt x="81288" y="1391444"/>
                </a:lnTo>
                <a:lnTo>
                  <a:pt x="81288" y="0"/>
                </a:lnTo>
                <a:close/>
              </a:path>
            </a:pathLst>
          </a:custGeom>
          <a:solidFill>
            <a:srgbClr val="000B67"/>
          </a:solidFill>
          <a:ln/>
        </p:spPr>
      </p:sp>
      <p:sp>
        <p:nvSpPr>
          <p:cNvPr id="8" name="Text 4"/>
          <p:cNvSpPr/>
          <p:nvPr/>
        </p:nvSpPr>
        <p:spPr>
          <a:xfrm>
            <a:off x="605914" y="1251248"/>
            <a:ext cx="5432884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Overload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05914" y="1583630"/>
            <a:ext cx="4512455" cy="57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Organizations hold extensive data in various formats, lacking a unified query method.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6213" y="1092696"/>
            <a:ext cx="5741447" cy="1391444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74" y="1059656"/>
            <a:ext cx="5807525" cy="145752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174" y="1059656"/>
            <a:ext cx="5807525" cy="1457523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76213" y="1092696"/>
            <a:ext cx="81655" cy="1391444"/>
          </a:xfrm>
          <a:prstGeom prst="roundRect">
            <a:avLst>
              <a:gd name="adj" fmla="val 41993"/>
            </a:avLst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6176213" y="1092696"/>
            <a:ext cx="81655" cy="1391444"/>
          </a:xfrm>
          <a:custGeom>
            <a:avLst/>
            <a:gdLst/>
            <a:ahLst/>
            <a:cxnLst/>
            <a:rect l="l" t="t" r="r" b="b"/>
            <a:pathLst>
              <a:path w="81655" h="1391444">
                <a:moveTo>
                  <a:pt x="81288" y="0"/>
                </a:moveTo>
                <a:lnTo>
                  <a:pt x="49646" y="6401"/>
                </a:lnTo>
                <a:lnTo>
                  <a:pt x="23811" y="23794"/>
                </a:lnTo>
                <a:lnTo>
                  <a:pt x="6385" y="49535"/>
                </a:lnTo>
                <a:lnTo>
                  <a:pt x="0" y="81121"/>
                </a:lnTo>
                <a:lnTo>
                  <a:pt x="0" y="1310323"/>
                </a:lnTo>
                <a:lnTo>
                  <a:pt x="6189" y="1341352"/>
                </a:lnTo>
                <a:lnTo>
                  <a:pt x="23811" y="1367650"/>
                </a:lnTo>
                <a:lnTo>
                  <a:pt x="50177" y="1385182"/>
                </a:lnTo>
                <a:lnTo>
                  <a:pt x="81288" y="1391444"/>
                </a:lnTo>
                <a:lnTo>
                  <a:pt x="81288" y="0"/>
                </a:lnTo>
                <a:close/>
              </a:path>
            </a:pathLst>
          </a:custGeom>
          <a:solidFill>
            <a:srgbClr val="000B67"/>
          </a:solidFill>
          <a:ln/>
        </p:spPr>
      </p:sp>
      <p:sp>
        <p:nvSpPr>
          <p:cNvPr id="15" name="Text 9"/>
          <p:cNvSpPr/>
          <p:nvPr/>
        </p:nvSpPr>
        <p:spPr>
          <a:xfrm>
            <a:off x="6384864" y="1208980"/>
            <a:ext cx="5475647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Blindness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384864" y="1541363"/>
            <a:ext cx="4396769" cy="57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Keyword search fails to understand meaning. Users searching for concepts get irrelevant or zero results.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354500" y="2643584"/>
            <a:ext cx="5724580" cy="1155700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59" y="2610644"/>
            <a:ext cx="5790460" cy="1221581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659" y="2610644"/>
            <a:ext cx="5790460" cy="1221581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54500" y="2643584"/>
            <a:ext cx="81258" cy="1155700"/>
          </a:xfrm>
          <a:prstGeom prst="roundRect">
            <a:avLst>
              <a:gd name="adj" fmla="val 42198"/>
            </a:avLst>
          </a:prstGeom>
          <a:solidFill>
            <a:srgbClr val="FFFFFF"/>
          </a:solidFill>
          <a:ln/>
        </p:spPr>
      </p:sp>
      <p:sp>
        <p:nvSpPr>
          <p:cNvPr id="21" name="Shape 13"/>
          <p:cNvSpPr/>
          <p:nvPr/>
        </p:nvSpPr>
        <p:spPr>
          <a:xfrm>
            <a:off x="354500" y="2643584"/>
            <a:ext cx="81258" cy="1155700"/>
          </a:xfrm>
          <a:custGeom>
            <a:avLst/>
            <a:gdLst/>
            <a:ahLst/>
            <a:cxnLst/>
            <a:rect l="l" t="t" r="r" b="b"/>
            <a:pathLst>
              <a:path w="81258" h="1155700">
                <a:moveTo>
                  <a:pt x="81079" y="0"/>
                </a:moveTo>
                <a:lnTo>
                  <a:pt x="49519" y="6356"/>
                </a:lnTo>
                <a:lnTo>
                  <a:pt x="23752" y="23807"/>
                </a:lnTo>
                <a:lnTo>
                  <a:pt x="6371" y="49580"/>
                </a:lnTo>
                <a:lnTo>
                  <a:pt x="0" y="81130"/>
                </a:lnTo>
                <a:lnTo>
                  <a:pt x="0" y="1074339"/>
                </a:lnTo>
                <a:lnTo>
                  <a:pt x="6371" y="1105889"/>
                </a:lnTo>
                <a:lnTo>
                  <a:pt x="23752" y="1131661"/>
                </a:lnTo>
                <a:lnTo>
                  <a:pt x="49519" y="1148997"/>
                </a:lnTo>
                <a:lnTo>
                  <a:pt x="81079" y="1155469"/>
                </a:lnTo>
                <a:lnTo>
                  <a:pt x="81079" y="0"/>
                </a:lnTo>
                <a:close/>
              </a:path>
            </a:pathLst>
          </a:custGeom>
          <a:solidFill>
            <a:srgbClr val="000B67"/>
          </a:solidFill>
          <a:ln/>
        </p:spPr>
      </p:sp>
      <p:sp>
        <p:nvSpPr>
          <p:cNvPr id="22" name="Text 14"/>
          <p:cNvSpPr/>
          <p:nvPr/>
        </p:nvSpPr>
        <p:spPr>
          <a:xfrm>
            <a:off x="605914" y="2703810"/>
            <a:ext cx="54160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Hallucinated Answers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605914" y="3023691"/>
            <a:ext cx="504881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Generic LLMs generate confident but unsupported answers — with no grounding in the organization's actual documents.</a:t>
            </a:r>
            <a:endParaRPr lang="en-US" sz="1550" dirty="0"/>
          </a:p>
        </p:txBody>
      </p:sp>
      <p:sp>
        <p:nvSpPr>
          <p:cNvPr id="24" name="Shape 16"/>
          <p:cNvSpPr/>
          <p:nvPr/>
        </p:nvSpPr>
        <p:spPr>
          <a:xfrm>
            <a:off x="6176213" y="2640112"/>
            <a:ext cx="5741447" cy="1159073"/>
          </a:xfrm>
          <a:prstGeom prst="roundRect">
            <a:avLst>
              <a:gd name="adj" fmla="val 2958"/>
            </a:avLst>
          </a:prstGeom>
          <a:solidFill>
            <a:srgbClr val="FFFFF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174" y="2607171"/>
            <a:ext cx="5807525" cy="1225153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174" y="2607171"/>
            <a:ext cx="5807525" cy="1225153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176213" y="2640112"/>
            <a:ext cx="81655" cy="1159073"/>
          </a:xfrm>
          <a:prstGeom prst="roundRect">
            <a:avLst>
              <a:gd name="adj" fmla="val 41993"/>
            </a:avLst>
          </a:prstGeom>
          <a:solidFill>
            <a:srgbClr val="FFFFFF"/>
          </a:solidFill>
          <a:ln/>
        </p:spPr>
      </p:sp>
      <p:sp>
        <p:nvSpPr>
          <p:cNvPr id="28" name="Shape 18"/>
          <p:cNvSpPr/>
          <p:nvPr/>
        </p:nvSpPr>
        <p:spPr>
          <a:xfrm>
            <a:off x="6176213" y="2640112"/>
            <a:ext cx="81655" cy="1159073"/>
          </a:xfrm>
          <a:custGeom>
            <a:avLst/>
            <a:gdLst/>
            <a:ahLst/>
            <a:cxnLst/>
            <a:rect l="l" t="t" r="r" b="b"/>
            <a:pathLst>
              <a:path w="81655" h="1159073">
                <a:moveTo>
                  <a:pt x="81288" y="0"/>
                </a:moveTo>
                <a:lnTo>
                  <a:pt x="49646" y="6375"/>
                </a:lnTo>
                <a:lnTo>
                  <a:pt x="23811" y="23877"/>
                </a:lnTo>
                <a:lnTo>
                  <a:pt x="6385" y="49724"/>
                </a:lnTo>
                <a:lnTo>
                  <a:pt x="0" y="81367"/>
                </a:lnTo>
                <a:lnTo>
                  <a:pt x="0" y="1077475"/>
                </a:lnTo>
                <a:lnTo>
                  <a:pt x="6385" y="1109233"/>
                </a:lnTo>
                <a:lnTo>
                  <a:pt x="23811" y="1135081"/>
                </a:lnTo>
                <a:lnTo>
                  <a:pt x="49646" y="1152467"/>
                </a:lnTo>
                <a:lnTo>
                  <a:pt x="81288" y="1158842"/>
                </a:lnTo>
                <a:lnTo>
                  <a:pt x="81288" y="0"/>
                </a:lnTo>
                <a:close/>
              </a:path>
            </a:pathLst>
          </a:custGeom>
          <a:solidFill>
            <a:srgbClr val="000B67"/>
          </a:solidFill>
          <a:ln/>
        </p:spPr>
      </p:sp>
      <p:sp>
        <p:nvSpPr>
          <p:cNvPr id="29" name="Text 19"/>
          <p:cNvSpPr/>
          <p:nvPr/>
        </p:nvSpPr>
        <p:spPr>
          <a:xfrm>
            <a:off x="6384864" y="2690416"/>
            <a:ext cx="553279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Verifiability</a:t>
            </a:r>
            <a:endParaRPr lang="en-US" sz="1850" dirty="0"/>
          </a:p>
        </p:txBody>
      </p:sp>
      <p:sp>
        <p:nvSpPr>
          <p:cNvPr id="30" name="Text 20"/>
          <p:cNvSpPr/>
          <p:nvPr/>
        </p:nvSpPr>
        <p:spPr>
          <a:xfrm>
            <a:off x="6384864" y="3041848"/>
            <a:ext cx="553279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cannot trace where an answer came from, making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AI-generated responses untrustworthy in high-stakes contexts.</a:t>
            </a:r>
            <a:endParaRPr lang="en-US" sz="16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0000" y="3954562"/>
            <a:ext cx="9474062" cy="27017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974" y="499170"/>
            <a:ext cx="3544898" cy="47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This Matters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53" y="2150666"/>
            <a:ext cx="8279796" cy="82123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2" y="2360017"/>
            <a:ext cx="143665" cy="141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0974" y="1193105"/>
            <a:ext cx="8288626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gap between raw organizational knowledge and actionable answers is widening. Existing tools fall short in three critical ways: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007144" y="2169716"/>
            <a:ext cx="7892456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 needed: A system that understands queries, retrieves knowledge, reasons over it, and generates grounded answers with evidence.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23" y="3531791"/>
            <a:ext cx="361544" cy="3615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1762" y="3550146"/>
            <a:ext cx="20468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129379" y="3482975"/>
            <a:ext cx="2413237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Ambiguous Queries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129379" y="3815358"/>
            <a:ext cx="2413237" cy="1581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Vague or incomplete questions require manual clarification loops, slowing down knowledge workers.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611" y="3913485"/>
            <a:ext cx="361544" cy="3615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99527" y="3931642"/>
            <a:ext cx="20468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4577144" y="3864471"/>
            <a:ext cx="2818933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Lost Context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4577144" y="4196854"/>
            <a:ext cx="2818933" cy="1265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Follow-up questions lose conversation history — every query is treated as if it were the first.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890" y="4256187"/>
            <a:ext cx="361544" cy="3615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08806" y="4306094"/>
            <a:ext cx="20468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047531" y="4249341"/>
            <a:ext cx="281675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Inaccessible Documents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8047531" y="4571504"/>
            <a:ext cx="2816750" cy="1265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Scanned and image-based documents remain invisible to standard text pipelines without OCR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42" y="671909"/>
            <a:ext cx="11538654" cy="55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Proposed Solution: RAG + Multi-Agent Architecture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738" y="2776538"/>
            <a:ext cx="10454220" cy="2089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620" y="3270746"/>
            <a:ext cx="1533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54620" y="3647777"/>
            <a:ext cx="1533189" cy="43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PDF, DOCX, TXT, CSV, JPG, PNG with OCR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81300" y="2882503"/>
            <a:ext cx="144518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81300" y="3259534"/>
            <a:ext cx="1445184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chunking and vector embeddings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52321" y="3270746"/>
            <a:ext cx="146840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52321" y="3647777"/>
            <a:ext cx="1468401" cy="43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Intent, entities, and complexity analysis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35942" y="3117850"/>
            <a:ext cx="14671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35942" y="3494881"/>
            <a:ext cx="1467111" cy="43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+ exact search with ranking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87317" y="3270746"/>
            <a:ext cx="155015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87317" y="3647777"/>
            <a:ext cx="1550155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Grounded responses with citations and scores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2942" y="5394127"/>
            <a:ext cx="997222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unified pipeline that transforms raw documents into verifiable, context-aware answers — powered by multi-agent reasoning at every stage.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42" y="566837"/>
            <a:ext cx="7464337" cy="55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Architecture Overview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2942" y="1429941"/>
            <a:ext cx="10585185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Multi-layered pipeline: React frontend → FastAPI backend → LangGraph agents → PostgreSQL + ChromaDB storage.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56359"/>
            <a:ext cx="11294582" cy="3882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42" y="551755"/>
            <a:ext cx="8918650" cy="55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Ingestion &amp; RAG Pipeline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2942" y="2570262"/>
            <a:ext cx="379205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2896791"/>
            <a:ext cx="5366409" cy="1905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652942" y="2908796"/>
            <a:ext cx="5289021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 &amp; Validate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52942" y="3241179"/>
            <a:ext cx="5289021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Documents are received, validated for format, and queued for processing.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155576" y="2570262"/>
            <a:ext cx="379205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164009" y="2896791"/>
            <a:ext cx="5366409" cy="1905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6155576" y="2919313"/>
            <a:ext cx="53021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 &amp; OCR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55576" y="3246041"/>
            <a:ext cx="5302117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PyMuPDF handles native text; PaddleOCR processes scanned images and handwritten content.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2942" y="4369495"/>
            <a:ext cx="379205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61475" y="4696023"/>
            <a:ext cx="5366409" cy="1905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652942" y="4707930"/>
            <a:ext cx="4233161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&amp; Chunk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52942" y="5040313"/>
            <a:ext cx="4233161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 is normalized, deduplicated, and split into semantically coherent chunks.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155576" y="4369495"/>
            <a:ext cx="379205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164009" y="4696023"/>
            <a:ext cx="5366409" cy="1905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6155576" y="4707930"/>
            <a:ext cx="455363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 &amp; Store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55576" y="5040313"/>
            <a:ext cx="4553630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all-MiniLM-L6-v2 generates embeddings stored in ChromaDB for retrieval at query time.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52942" y="1354534"/>
            <a:ext cx="776615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During querying, relevant chunks are retrieved and passed to the LLM</a:t>
            </a:r>
            <a:endParaRPr lang="en-US" sz="2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grounding answers in your documents, not just pretraining data.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42" y="765870"/>
            <a:ext cx="11538654" cy="55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Multi-Agent Query Resolution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14" y="1788716"/>
            <a:ext cx="332970" cy="32910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13469400">
            <a:off x="903662" y="2099866"/>
            <a:ext cx="140391" cy="154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652942" y="2365375"/>
            <a:ext cx="3288325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Query Understanding Agent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2942" y="2719487"/>
            <a:ext cx="3288325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intent, extracts entities, and flags ambiguity before retrieval begins.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 rot="11807400">
            <a:off x="4535473" y="1808163"/>
            <a:ext cx="29368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4504915" y="1803896"/>
            <a:ext cx="31154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 rot="754800">
            <a:off x="4466816" y="2057499"/>
            <a:ext cx="29170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4495688" y="2060674"/>
            <a:ext cx="13890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4515332" y="2061766"/>
            <a:ext cx="25697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541129" y="2058591"/>
            <a:ext cx="18157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9285" y="2053431"/>
            <a:ext cx="8433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 rot="18585000">
            <a:off x="4597087" y="2013446"/>
            <a:ext cx="32345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 rot="17745000">
            <a:off x="4614648" y="1986756"/>
            <a:ext cx="31848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629729" y="1949053"/>
            <a:ext cx="15577" cy="3105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4635979" y="1916807"/>
            <a:ext cx="15577" cy="3224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 rot="15145200">
            <a:off x="4620998" y="1893491"/>
            <a:ext cx="32345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 rot="14292600">
            <a:off x="4608000" y="1864519"/>
            <a:ext cx="31848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 rot="13452000">
            <a:off x="4588058" y="1839912"/>
            <a:ext cx="31948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 rot="12598200">
            <a:off x="4562162" y="1820664"/>
            <a:ext cx="32444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19"/>
          <p:cNvSpPr/>
          <p:nvPr/>
        </p:nvSpPr>
        <p:spPr>
          <a:xfrm rot="18764400">
            <a:off x="4596987" y="2018506"/>
            <a:ext cx="25002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 rot="2689200">
            <a:off x="4577541" y="2087860"/>
            <a:ext cx="173033" cy="15577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71" y="1790898"/>
            <a:ext cx="147237" cy="29150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567917" y="2049959"/>
            <a:ext cx="8830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2"/>
          <p:cNvSpPr/>
          <p:nvPr/>
        </p:nvSpPr>
        <p:spPr>
          <a:xfrm>
            <a:off x="4576747" y="2045295"/>
            <a:ext cx="8433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Shape 23"/>
          <p:cNvSpPr/>
          <p:nvPr/>
        </p:nvSpPr>
        <p:spPr>
          <a:xfrm>
            <a:off x="4585280" y="2040037"/>
            <a:ext cx="8037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Shape 24"/>
          <p:cNvSpPr/>
          <p:nvPr/>
        </p:nvSpPr>
        <p:spPr>
          <a:xfrm rot="19178400">
            <a:off x="4592324" y="2030909"/>
            <a:ext cx="10021" cy="155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5"/>
          <p:cNvSpPr/>
          <p:nvPr/>
        </p:nvSpPr>
        <p:spPr>
          <a:xfrm>
            <a:off x="4354701" y="2365375"/>
            <a:ext cx="3294675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Retrieval Agent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4354701" y="2719487"/>
            <a:ext cx="3294675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semantic + exact search with hybrid ranking and filters low-relevance results.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 rot="10048200">
            <a:off x="8380600" y="2145010"/>
            <a:ext cx="35123" cy="15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28"/>
          <p:cNvSpPr/>
          <p:nvPr/>
        </p:nvSpPr>
        <p:spPr>
          <a:xfrm>
            <a:off x="8362046" y="2148780"/>
            <a:ext cx="18851" cy="1528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335" y="2107009"/>
            <a:ext cx="45243" cy="57150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335" y="1801912"/>
            <a:ext cx="54966" cy="45938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224" y="1801912"/>
            <a:ext cx="44747" cy="5774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 rot="6671400">
            <a:off x="8409174" y="2126655"/>
            <a:ext cx="26590" cy="15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Shape 30"/>
          <p:cNvSpPr/>
          <p:nvPr/>
        </p:nvSpPr>
        <p:spPr>
          <a:xfrm rot="7954200">
            <a:off x="8184052" y="1956892"/>
            <a:ext cx="207362" cy="15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Shape 31"/>
          <p:cNvSpPr/>
          <p:nvPr/>
        </p:nvSpPr>
        <p:spPr>
          <a:xfrm rot="2720400">
            <a:off x="8140298" y="2001044"/>
            <a:ext cx="90485" cy="15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Shape 32"/>
          <p:cNvSpPr/>
          <p:nvPr/>
        </p:nvSpPr>
        <p:spPr>
          <a:xfrm>
            <a:off x="8072533" y="1846759"/>
            <a:ext cx="15279" cy="2615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Shape 33"/>
          <p:cNvSpPr/>
          <p:nvPr/>
        </p:nvSpPr>
        <p:spPr>
          <a:xfrm>
            <a:off x="8116585" y="2148880"/>
            <a:ext cx="245461" cy="15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Shape 34"/>
          <p:cNvSpPr/>
          <p:nvPr/>
        </p:nvSpPr>
        <p:spPr>
          <a:xfrm>
            <a:off x="8126209" y="1802110"/>
            <a:ext cx="265404" cy="15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Shape 35"/>
          <p:cNvSpPr/>
          <p:nvPr/>
        </p:nvSpPr>
        <p:spPr>
          <a:xfrm>
            <a:off x="8419889" y="1858466"/>
            <a:ext cx="15279" cy="26332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36"/>
          <p:cNvSpPr/>
          <p:nvPr/>
        </p:nvSpPr>
        <p:spPr>
          <a:xfrm>
            <a:off x="8056262" y="2365375"/>
            <a:ext cx="3343787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Clarification Agent</a:t>
            </a:r>
            <a:endParaRPr lang="en-US" sz="1650" dirty="0"/>
          </a:p>
        </p:txBody>
      </p:sp>
      <p:sp>
        <p:nvSpPr>
          <p:cNvPr id="44" name="Text 37"/>
          <p:cNvSpPr/>
          <p:nvPr/>
        </p:nvSpPr>
        <p:spPr>
          <a:xfrm>
            <a:off x="8056262" y="2719487"/>
            <a:ext cx="3343787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incomplete queries — e.g., "What is its ranking?" triggers a context request.</a:t>
            </a:r>
            <a:endParaRPr lang="en-US" sz="1550" dirty="0"/>
          </a:p>
        </p:txBody>
      </p:sp>
      <p:sp>
        <p:nvSpPr>
          <p:cNvPr id="45" name="Shape 38"/>
          <p:cNvSpPr/>
          <p:nvPr/>
        </p:nvSpPr>
        <p:spPr>
          <a:xfrm>
            <a:off x="873599" y="4262239"/>
            <a:ext cx="18851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Shape 39"/>
          <p:cNvSpPr/>
          <p:nvPr/>
        </p:nvSpPr>
        <p:spPr>
          <a:xfrm>
            <a:off x="757020" y="4330700"/>
            <a:ext cx="21034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Shape 40"/>
          <p:cNvSpPr/>
          <p:nvPr/>
        </p:nvSpPr>
        <p:spPr>
          <a:xfrm>
            <a:off x="801271" y="4330700"/>
            <a:ext cx="20935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8" name="Shape 41"/>
          <p:cNvSpPr/>
          <p:nvPr/>
        </p:nvSpPr>
        <p:spPr>
          <a:xfrm>
            <a:off x="753647" y="4188023"/>
            <a:ext cx="19050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3788" y="4188023"/>
            <a:ext cx="9326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Shape 43"/>
          <p:cNvSpPr/>
          <p:nvPr/>
        </p:nvSpPr>
        <p:spPr>
          <a:xfrm>
            <a:off x="784305" y="4188023"/>
            <a:ext cx="9326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Shape 44"/>
          <p:cNvSpPr/>
          <p:nvPr/>
        </p:nvSpPr>
        <p:spPr>
          <a:xfrm>
            <a:off x="794822" y="4188023"/>
            <a:ext cx="18851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Shape 45"/>
          <p:cNvSpPr/>
          <p:nvPr/>
        </p:nvSpPr>
        <p:spPr>
          <a:xfrm>
            <a:off x="814764" y="4187924"/>
            <a:ext cx="9525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Shape 46"/>
          <p:cNvSpPr/>
          <p:nvPr/>
        </p:nvSpPr>
        <p:spPr>
          <a:xfrm>
            <a:off x="825281" y="4187924"/>
            <a:ext cx="8334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4" name="Shape 47"/>
          <p:cNvSpPr/>
          <p:nvPr/>
        </p:nvSpPr>
        <p:spPr>
          <a:xfrm>
            <a:off x="834806" y="4187924"/>
            <a:ext cx="9326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5" name="Shape 48"/>
          <p:cNvSpPr/>
          <p:nvPr/>
        </p:nvSpPr>
        <p:spPr>
          <a:xfrm>
            <a:off x="845323" y="4187924"/>
            <a:ext cx="19843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6" name="Shape 49"/>
          <p:cNvSpPr/>
          <p:nvPr/>
        </p:nvSpPr>
        <p:spPr>
          <a:xfrm>
            <a:off x="866456" y="4187924"/>
            <a:ext cx="8334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Shape 50"/>
          <p:cNvSpPr/>
          <p:nvPr/>
        </p:nvSpPr>
        <p:spPr>
          <a:xfrm>
            <a:off x="875881" y="4187924"/>
            <a:ext cx="20042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8" name="Shape 51"/>
          <p:cNvSpPr/>
          <p:nvPr/>
        </p:nvSpPr>
        <p:spPr>
          <a:xfrm>
            <a:off x="896915" y="4187924"/>
            <a:ext cx="9525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Shape 52"/>
          <p:cNvSpPr/>
          <p:nvPr/>
        </p:nvSpPr>
        <p:spPr>
          <a:xfrm>
            <a:off x="907432" y="4187924"/>
            <a:ext cx="8334" cy="165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0" name="Shape 53"/>
          <p:cNvSpPr/>
          <p:nvPr/>
        </p:nvSpPr>
        <p:spPr>
          <a:xfrm>
            <a:off x="916957" y="4187924"/>
            <a:ext cx="7937" cy="1657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09" y="4096742"/>
            <a:ext cx="387043" cy="389632"/>
          </a:xfrm>
          <a:prstGeom prst="rect">
            <a:avLst/>
          </a:prstGeom>
        </p:spPr>
      </p:pic>
      <p:sp>
        <p:nvSpPr>
          <p:cNvPr id="62" name="Shape 54"/>
          <p:cNvSpPr/>
          <p:nvPr/>
        </p:nvSpPr>
        <p:spPr>
          <a:xfrm>
            <a:off x="681814" y="4448373"/>
            <a:ext cx="25399" cy="254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673381" y="4440138"/>
            <a:ext cx="16867" cy="16867"/>
          </a:xfrm>
          <a:custGeom>
            <a:avLst/>
            <a:gdLst/>
            <a:ahLst/>
            <a:cxnLst/>
            <a:rect l="l" t="t" r="r" b="b"/>
            <a:pathLst>
              <a:path w="16867" h="16867">
                <a:moveTo>
                  <a:pt x="0" y="8285"/>
                </a:moveTo>
                <a:lnTo>
                  <a:pt x="2427" y="2427"/>
                </a:lnTo>
                <a:lnTo>
                  <a:pt x="8285" y="0"/>
                </a:lnTo>
                <a:lnTo>
                  <a:pt x="14144" y="2427"/>
                </a:lnTo>
                <a:lnTo>
                  <a:pt x="16572" y="8285"/>
                </a:lnTo>
                <a:lnTo>
                  <a:pt x="14144" y="14145"/>
                </a:lnTo>
                <a:lnTo>
                  <a:pt x="8285" y="16572"/>
                </a:lnTo>
                <a:lnTo>
                  <a:pt x="2427" y="14145"/>
                </a:lnTo>
                <a:lnTo>
                  <a:pt x="0" y="8285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4" name="Text 56"/>
          <p:cNvSpPr/>
          <p:nvPr/>
        </p:nvSpPr>
        <p:spPr>
          <a:xfrm>
            <a:off x="652942" y="4673600"/>
            <a:ext cx="3238717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Response Generation Agent</a:t>
            </a:r>
            <a:endParaRPr lang="en-US" sz="1650" dirty="0"/>
          </a:p>
        </p:txBody>
      </p:sp>
      <p:sp>
        <p:nvSpPr>
          <p:cNvPr id="65" name="Text 57"/>
          <p:cNvSpPr/>
          <p:nvPr/>
        </p:nvSpPr>
        <p:spPr>
          <a:xfrm>
            <a:off x="652942" y="5027712"/>
            <a:ext cx="3238717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Produces grounded answers with source citations and confidence scores.</a:t>
            </a:r>
            <a:endParaRPr lang="en-US" sz="1550" dirty="0"/>
          </a:p>
        </p:txBody>
      </p:sp>
      <p:sp>
        <p:nvSpPr>
          <p:cNvPr id="66" name="Shape 58"/>
          <p:cNvSpPr/>
          <p:nvPr/>
        </p:nvSpPr>
        <p:spPr>
          <a:xfrm rot="4416600">
            <a:off x="4404706" y="4370487"/>
            <a:ext cx="31452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Shape 59"/>
          <p:cNvSpPr/>
          <p:nvPr/>
        </p:nvSpPr>
        <p:spPr>
          <a:xfrm rot="3057600">
            <a:off x="4419291" y="4397474"/>
            <a:ext cx="30162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8" name="Shape 60"/>
          <p:cNvSpPr/>
          <p:nvPr/>
        </p:nvSpPr>
        <p:spPr>
          <a:xfrm rot="1492800">
            <a:off x="4442706" y="4415234"/>
            <a:ext cx="28872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9" name="Shape 61"/>
          <p:cNvSpPr/>
          <p:nvPr/>
        </p:nvSpPr>
        <p:spPr>
          <a:xfrm>
            <a:off x="4470288" y="4421287"/>
            <a:ext cx="15180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0" name="Shape 62"/>
          <p:cNvSpPr/>
          <p:nvPr/>
        </p:nvSpPr>
        <p:spPr>
          <a:xfrm rot="20167200">
            <a:off x="4489437" y="4416921"/>
            <a:ext cx="26590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1" name="Shape 63"/>
          <p:cNvSpPr/>
          <p:nvPr/>
        </p:nvSpPr>
        <p:spPr>
          <a:xfrm rot="18588600">
            <a:off x="4512753" y="4406900"/>
            <a:ext cx="11906" cy="1518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255" y="4163913"/>
            <a:ext cx="97827" cy="106759"/>
          </a:xfrm>
          <a:prstGeom prst="rect">
            <a:avLst/>
          </a:prstGeom>
        </p:spPr>
      </p:pic>
      <p:sp>
        <p:nvSpPr>
          <p:cNvPr id="73" name="Shape 64"/>
          <p:cNvSpPr/>
          <p:nvPr/>
        </p:nvSpPr>
        <p:spPr>
          <a:xfrm rot="18762600">
            <a:off x="4549364" y="4325045"/>
            <a:ext cx="17958" cy="1518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9844" y="4305399"/>
            <a:ext cx="71436" cy="62210"/>
          </a:xfrm>
          <a:prstGeom prst="rect">
            <a:avLst/>
          </a:prstGeom>
        </p:spPr>
      </p:pic>
      <p:sp>
        <p:nvSpPr>
          <p:cNvPr id="75" name="Shape 65"/>
          <p:cNvSpPr/>
          <p:nvPr/>
        </p:nvSpPr>
        <p:spPr>
          <a:xfrm rot="2438400">
            <a:off x="4709003" y="4345980"/>
            <a:ext cx="18851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6" name="Shape 66"/>
          <p:cNvSpPr/>
          <p:nvPr/>
        </p:nvSpPr>
        <p:spPr>
          <a:xfrm>
            <a:off x="4718626" y="4449663"/>
            <a:ext cx="25399" cy="254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 rot="14736600">
            <a:off x="4607901" y="4145459"/>
            <a:ext cx="34329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8" name="Shape 68"/>
          <p:cNvSpPr/>
          <p:nvPr/>
        </p:nvSpPr>
        <p:spPr>
          <a:xfrm rot="12684000">
            <a:off x="4586073" y="4120952"/>
            <a:ext cx="34329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9" name="Shape 69"/>
          <p:cNvSpPr/>
          <p:nvPr/>
        </p:nvSpPr>
        <p:spPr>
          <a:xfrm>
            <a:off x="4571092" y="4111923"/>
            <a:ext cx="17462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0" name="Shape 70"/>
          <p:cNvSpPr/>
          <p:nvPr/>
        </p:nvSpPr>
        <p:spPr>
          <a:xfrm>
            <a:off x="4554225" y="4110137"/>
            <a:ext cx="16867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1" name="Shape 71"/>
          <p:cNvSpPr/>
          <p:nvPr/>
        </p:nvSpPr>
        <p:spPr>
          <a:xfrm rot="9103800">
            <a:off x="4538053" y="4117677"/>
            <a:ext cx="17065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2" name="Shape 72"/>
          <p:cNvSpPr/>
          <p:nvPr/>
        </p:nvSpPr>
        <p:spPr>
          <a:xfrm rot="8065200">
            <a:off x="4524063" y="4127996"/>
            <a:ext cx="17561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3" name="Shape 73"/>
          <p:cNvSpPr/>
          <p:nvPr/>
        </p:nvSpPr>
        <p:spPr>
          <a:xfrm>
            <a:off x="4631812" y="4168874"/>
            <a:ext cx="25399" cy="254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4632408" y="4170462"/>
            <a:ext cx="25399" cy="254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4633598" y="4171950"/>
            <a:ext cx="25399" cy="254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 rot="2302200">
            <a:off x="4631614" y="4174728"/>
            <a:ext cx="27086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7" name="Shape 77"/>
          <p:cNvSpPr/>
          <p:nvPr/>
        </p:nvSpPr>
        <p:spPr>
          <a:xfrm rot="3613200">
            <a:off x="4649274" y="4194473"/>
            <a:ext cx="26193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8" name="Shape 78"/>
          <p:cNvSpPr/>
          <p:nvPr/>
        </p:nvSpPr>
        <p:spPr>
          <a:xfrm>
            <a:off x="4661379" y="4213523"/>
            <a:ext cx="15180" cy="259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9" name="Shape 79"/>
          <p:cNvSpPr/>
          <p:nvPr/>
        </p:nvSpPr>
        <p:spPr>
          <a:xfrm>
            <a:off x="4665149" y="4239617"/>
            <a:ext cx="15180" cy="2649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0" name="Shape 80"/>
          <p:cNvSpPr/>
          <p:nvPr/>
        </p:nvSpPr>
        <p:spPr>
          <a:xfrm>
            <a:off x="4661776" y="4310856"/>
            <a:ext cx="15180" cy="146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1" name="Shape 81"/>
          <p:cNvSpPr/>
          <p:nvPr/>
        </p:nvSpPr>
        <p:spPr>
          <a:xfrm>
            <a:off x="4665943" y="4295577"/>
            <a:ext cx="15180" cy="15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2" name="Shape 82"/>
          <p:cNvSpPr/>
          <p:nvPr/>
        </p:nvSpPr>
        <p:spPr>
          <a:xfrm>
            <a:off x="4666836" y="4280495"/>
            <a:ext cx="15180" cy="1508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3" name="Shape 83"/>
          <p:cNvSpPr/>
          <p:nvPr/>
        </p:nvSpPr>
        <p:spPr>
          <a:xfrm>
            <a:off x="4664554" y="4266109"/>
            <a:ext cx="1518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4" name="Shape 84"/>
          <p:cNvSpPr/>
          <p:nvPr/>
        </p:nvSpPr>
        <p:spPr>
          <a:xfrm>
            <a:off x="4518904" y="4141887"/>
            <a:ext cx="15180" cy="26223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9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3140" y="4110038"/>
            <a:ext cx="120945" cy="65782"/>
          </a:xfrm>
          <a:prstGeom prst="rect">
            <a:avLst/>
          </a:prstGeom>
        </p:spPr>
      </p:pic>
      <p:pic>
        <p:nvPicPr>
          <p:cNvPr id="9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072" y="4261644"/>
            <a:ext cx="52485" cy="105767"/>
          </a:xfrm>
          <a:prstGeom prst="rect">
            <a:avLst/>
          </a:prstGeom>
        </p:spPr>
      </p:pic>
      <p:pic>
        <p:nvPicPr>
          <p:cNvPr id="9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8904" y="4242098"/>
            <a:ext cx="214605" cy="230584"/>
          </a:xfrm>
          <a:prstGeom prst="rect">
            <a:avLst/>
          </a:prstGeom>
        </p:spPr>
      </p:pic>
      <p:sp>
        <p:nvSpPr>
          <p:cNvPr id="98" name="Text 85"/>
          <p:cNvSpPr/>
          <p:nvPr/>
        </p:nvSpPr>
        <p:spPr>
          <a:xfrm>
            <a:off x="4354701" y="4673600"/>
            <a:ext cx="2955157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Memory Agent</a:t>
            </a:r>
            <a:endParaRPr lang="en-US" sz="1650" dirty="0"/>
          </a:p>
        </p:txBody>
      </p:sp>
      <p:sp>
        <p:nvSpPr>
          <p:cNvPr id="99" name="Text 86"/>
          <p:cNvSpPr/>
          <p:nvPr/>
        </p:nvSpPr>
        <p:spPr>
          <a:xfrm>
            <a:off x="4354701" y="5027712"/>
            <a:ext cx="2955157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Maintains conversation context so follow-up questions remain coherent across turns.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942" y="365720"/>
            <a:ext cx="7392207" cy="55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 Stack &amp; Outcomes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2942" y="1425575"/>
            <a:ext cx="123742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Stack</a:t>
            </a:r>
            <a:endParaRPr lang="en-US" sz="1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25" y="1973957"/>
          <a:ext cx="9143771" cy="914400"/>
        </p:xfrm>
        <a:graphic>
          <a:graphicData uri="http://schemas.openxmlformats.org/drawingml/2006/table">
            <a:tbl>
              <a:tblPr/>
              <a:tblGrid>
                <a:gridCol w="2607652"/>
                <a:gridCol w="2607652"/>
              </a:tblGrid>
              <a:tr h="500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Layer</a:t>
                      </a:r>
                      <a:endParaRPr lang="en-US" sz="1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Technologies</a:t>
                      </a:r>
                      <a:endParaRPr lang="en-US" sz="1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Frontend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React 19, Vite, JavaScript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10637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 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Backend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Python, FastAPI, LangChain, LangGraph, Groq LLM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7835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Processing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PyMuPDF, PaddleOCR, Sentence Transformers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780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Databases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4054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ChromaDB (vectors), PostgreSQL (metadata)</a:t>
                      </a:r>
                      <a:endParaRPr lang="en-US" sz="16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447" marR="64008" marT="72769" marB="72769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131" y="1988741"/>
            <a:ext cx="268281" cy="2700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2734" y="1425575"/>
            <a:ext cx="4888088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Outcomes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895630" y="1879104"/>
            <a:ext cx="43051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Domain-agnostic RAG — works across any document type or industry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31" y="2890044"/>
            <a:ext cx="268281" cy="27007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31" y="3791446"/>
            <a:ext cx="268281" cy="27007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131" y="4692749"/>
            <a:ext cx="268281" cy="27007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131" y="5594052"/>
            <a:ext cx="268281" cy="270073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96225" y="2840930"/>
            <a:ext cx="39717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Grounded responses — every answer backed by retrieved evidence</a:t>
            </a:r>
            <a:endParaRPr lang="en-US" sz="1550" dirty="0"/>
          </a:p>
        </p:txBody>
      </p:sp>
      <p:sp>
        <p:nvSpPr>
          <p:cNvPr id="13" name="Text 5"/>
          <p:cNvSpPr/>
          <p:nvPr/>
        </p:nvSpPr>
        <p:spPr>
          <a:xfrm>
            <a:off x="6896225" y="3781227"/>
            <a:ext cx="44088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Voice-enabled interaction — accessible, natural query experience</a:t>
            </a:r>
            <a:endParaRPr lang="en-US" sz="1550" dirty="0"/>
          </a:p>
        </p:txBody>
      </p:sp>
      <p:sp>
        <p:nvSpPr>
          <p:cNvPr id="14" name="Text 6"/>
          <p:cNvSpPr/>
          <p:nvPr/>
        </p:nvSpPr>
        <p:spPr>
          <a:xfrm>
            <a:off x="6896225" y="4721523"/>
            <a:ext cx="40960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Query analytics — continuous insight into system performance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6896225" y="5661819"/>
            <a:ext cx="44088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Transparent retrieval — full evidence chain visible to users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2364" y="1879600"/>
            <a:ext cx="101597" cy="1066800"/>
          </a:xfrm>
          <a:prstGeom prst="roundRect">
            <a:avLst>
              <a:gd name="adj" fmla="val 45000"/>
            </a:avLst>
          </a:prstGeom>
          <a:solidFill>
            <a:srgbClr val="3B4540"/>
          </a:solidFill>
          <a:ln/>
        </p:spPr>
      </p:sp>
      <p:sp>
        <p:nvSpPr>
          <p:cNvPr id="3" name="Shape 1"/>
          <p:cNvSpPr/>
          <p:nvPr/>
        </p:nvSpPr>
        <p:spPr>
          <a:xfrm>
            <a:off x="5206870" y="3619500"/>
            <a:ext cx="152396" cy="1524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832429" y="3619500"/>
            <a:ext cx="152396" cy="1524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263" y="3670300"/>
            <a:ext cx="1219170" cy="50800"/>
          </a:xfrm>
          <a:prstGeom prst="roundRect">
            <a:avLst>
              <a:gd name="adj" fmla="val 49999"/>
            </a:avLst>
          </a:prstGeom>
          <a:solidFill>
            <a:srgbClr val="3B4540"/>
          </a:solidFill>
          <a:ln/>
        </p:spPr>
      </p:sp>
      <p:sp>
        <p:nvSpPr>
          <p:cNvPr id="6" name="Text 4"/>
          <p:cNvSpPr/>
          <p:nvPr/>
        </p:nvSpPr>
        <p:spPr>
          <a:xfrm>
            <a:off x="1269968" y="2184400"/>
            <a:ext cx="9651759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400" dirty="0">
                <a:solidFill>
                  <a:srgbClr val="3B45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22324" y="4064000"/>
            <a:ext cx="101470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Questions and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2026-09-18T14:46:25Z</dcterms:created>
  <dcterms:modified xsi:type="dcterms:W3CDTF">2026-09-18T14:46:25Z</dcterms:modified>
</cp:coreProperties>
</file>